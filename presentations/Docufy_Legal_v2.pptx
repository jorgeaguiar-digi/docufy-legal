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6472" cy="685800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412480" y="0"/>
            <a:ext cx="54864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0072" y="91440"/>
            <a:ext cx="2194560" cy="219456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02920"/>
            <a:ext cx="7680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C9A85C"/>
                </a:solidFill>
              </a:rPr>
              <a:t>EL LUNES POR LA MAÑANA.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00200"/>
            <a:ext cx="7498079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</a:rPr>
              <a:t>Son las 9h. Abres el móvil.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377440"/>
            <a:ext cx="7223760" cy="4572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514600"/>
            <a:ext cx="7223760" cy="868680"/>
          </a:xfrm>
          <a:prstGeom prst="rect">
            <a:avLst/>
          </a:prstGeom>
          <a:solidFill>
            <a:srgbClr val="1C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514600"/>
            <a:ext cx="54864" cy="86868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CF5"/>
                </a:solidFill>
              </a:rPr>
              <a:t>11 WhatsApps de clientes preguntando cómo va su caso.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66160"/>
            <a:ext cx="7223760" cy="868680"/>
          </a:xfrm>
          <a:prstGeom prst="rect">
            <a:avLst/>
          </a:prstGeom>
          <a:solidFill>
            <a:srgbClr val="1C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54864" cy="86868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30168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CF5"/>
                </a:solidFill>
              </a:rPr>
              <a:t>Un expediente parado 10 días porque falta el parte amistoso.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617720"/>
            <a:ext cx="7223760" cy="868680"/>
          </a:xfrm>
          <a:prstGeom prst="rect">
            <a:avLst/>
          </a:prstGeom>
          <a:solidFill>
            <a:srgbClr val="1C24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4617720"/>
            <a:ext cx="54864" cy="86868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4681727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CF5"/>
                </a:solidFill>
              </a:rPr>
              <a:t>Tu administrativa rehaciendo una reclamación por un error en la matrícula.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263640"/>
            <a:ext cx="7680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C9A85C"/>
                </a:solidFill>
              </a:rPr>
              <a:t>¿Os suena?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1645920"/>
            <a:ext cx="3474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0" b="1" i="0">
                <a:solidFill>
                  <a:srgbClr val="1A2250"/>
                </a:solidFill>
              </a:rPr>
              <a:t>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02920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5A6A9E"/>
                </a:solidFill>
              </a:rPr>
              <a:t>Tus clientes también
se hacen esa pregunta.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¿TIENES AHORA MISMO ALGÚN EXPEDIENTE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C9A85C"/>
                </a:solidFill>
              </a:rPr>
              <a:t>PARADO PORQUE EL CLIENTE
NO HA MANDADO UN DOCUMENTO?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247120" cy="54864"/>
          </a:xfrm>
          <a:prstGeom prst="rect">
            <a:avLst/>
          </a:prstGeom>
          <a:solidFill>
            <a:srgbClr val="2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¿LE HAS PEDIDO EL DNI A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 i="0">
                <a:solidFill>
                  <a:srgbClr val="C9A85C"/>
                </a:solidFill>
              </a:rPr>
              <a:t>MÁS DE DOS VECES?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383280"/>
            <a:ext cx="11247120" cy="54864"/>
          </a:xfrm>
          <a:prstGeom prst="rect">
            <a:avLst/>
          </a:prstGeom>
          <a:solidFill>
            <a:srgbClr val="2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</a:rPr>
              <a:t>¿TE HA LLAMADO HOY UN CLIENTE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783080"/>
            <a:ext cx="11430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C9A85C"/>
                </a:solidFill>
              </a:rPr>
              <a:t>PREGUNTANDO EN QUÉ
ESTADO ESTÁ SU CASO?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611880"/>
            <a:ext cx="11247120" cy="54864"/>
          </a:xfrm>
          <a:prstGeom prst="rect">
            <a:avLst/>
          </a:prstGeom>
          <a:solidFill>
            <a:srgbClr val="2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5760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1">
                <a:solidFill>
                  <a:srgbClr val="E8ECF5"/>
                </a:solidFill>
              </a:rPr>
              <a:t>Levantad la mano.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91440"/>
            <a:ext cx="1828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0" b="1" i="0">
                <a:solidFill>
                  <a:srgbClr val="141C46"/>
                </a:solidFill>
              </a:rPr>
              <a:t>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280160"/>
            <a:ext cx="98755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E8ECF5"/>
                </a:solidFill>
              </a:rPr>
              <a:t>El problema no es que no seáis buenos abogados.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474720" y="2514600"/>
            <a:ext cx="521208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Es que la mitad de vuestro tiempo
no lo estáis ejerciendo.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32720" y="411480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0" b="1" i="0">
                <a:solidFill>
                  <a:srgbClr val="141C46"/>
                </a:solidFill>
              </a:rPr>
              <a:t>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C9A85C"/>
                </a:solidFill>
              </a:rPr>
              <a:t>¿CÓMO PODRÍA SER TU SEMANA?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1005840"/>
            <a:ext cx="5394960" cy="5577840"/>
          </a:xfrm>
          <a:prstGeom prst="rect">
            <a:avLst/>
          </a:prstGeom>
          <a:solidFill>
            <a:srgbClr val="141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394960" cy="64008"/>
          </a:xfrm>
          <a:prstGeom prst="rect">
            <a:avLst/>
          </a:prstGeom>
          <a:solidFill>
            <a:srgbClr val="E8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97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E83A3A"/>
                </a:solidFill>
              </a:rPr>
              <a:t>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691640"/>
            <a:ext cx="5394960" cy="54864"/>
          </a:xfrm>
          <a:prstGeom prst="rect">
            <a:avLst/>
          </a:prstGeom>
          <a:solidFill>
            <a:srgbClr val="30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874519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BBBB"/>
                </a:solidFill>
              </a:rPr>
              <a:t>✗  Persigues documentos por WhatsApp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BBBB"/>
                </a:solidFill>
              </a:rPr>
              <a:t>✗  Copias datos a mano en Word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429000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BBBB"/>
                </a:solidFill>
              </a:rPr>
              <a:t>✗  Sin visibilidad del estado de cada expediente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06240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BBBB"/>
                </a:solidFill>
              </a:rPr>
              <a:t>✗  Clientes que llaman constantemente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4983479"/>
            <a:ext cx="512064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BBBBBB"/>
                </a:solidFill>
              </a:rPr>
              <a:t>✗  Rechazas casos por falta de capacidad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188720"/>
            <a:ext cx="457200" cy="5029200"/>
          </a:xfrm>
          <a:prstGeom prst="rect">
            <a:avLst/>
          </a:prstGeom>
          <a:solidFill>
            <a:srgbClr val="0A0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760720" y="3383280"/>
            <a:ext cx="640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5C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92240" y="1005840"/>
            <a:ext cx="5394960" cy="5577840"/>
          </a:xfrm>
          <a:prstGeom prst="rect">
            <a:avLst/>
          </a:prstGeom>
          <a:solidFill>
            <a:srgbClr val="0A24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92240" y="1005840"/>
            <a:ext cx="5394960" cy="64008"/>
          </a:xfrm>
          <a:prstGeom prst="rect">
            <a:avLst/>
          </a:prstGeom>
          <a:solidFill>
            <a:srgbClr val="4CD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097280"/>
            <a:ext cx="5212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4CD97A"/>
                </a:solidFill>
              </a:rPr>
              <a:t>EN 3 MESES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1691640"/>
            <a:ext cx="5394960" cy="54864"/>
          </a:xfrm>
          <a:prstGeom prst="rect">
            <a:avLst/>
          </a:prstGeom>
          <a:solidFill>
            <a:srgbClr val="104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29400" y="1874519"/>
            <a:ext cx="5166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Documentación recibida automáticamente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651760"/>
            <a:ext cx="5166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Escritos generados en segundos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3429000"/>
            <a:ext cx="5166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Panel con estado en tiempo real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9400" y="4206240"/>
            <a:ext cx="5166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cliente recibe actualizaciones solo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4983479"/>
            <a:ext cx="516636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✓  El doble de expedientes, mismo equipo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1" y="91440"/>
            <a:ext cx="1417320" cy="1417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02920" y="274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85C"/>
                </a:solidFill>
              </a:rPr>
              <a:t>¿CÓMO LO HACEMOS?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1051560"/>
            <a:ext cx="393192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417320" y="3246120"/>
            <a:ext cx="9326880" cy="54864"/>
          </a:xfrm>
          <a:prstGeom prst="rect">
            <a:avLst/>
          </a:prstGeom>
          <a:solidFill>
            <a:srgbClr val="2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280160"/>
            <a:ext cx="3383280" cy="521208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280160"/>
            <a:ext cx="338328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00200" y="1417320"/>
            <a:ext cx="1371600" cy="1371600"/>
          </a:xfrm>
          <a:prstGeom prst="ellipse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15087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A0E2E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926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Captación
documental
automática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C4"/>
                </a:solidFill>
              </a:rPr>
              <a:t>Bot de WhatsApp activo
24/7 que gestiona
cada expediente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383280" cy="521208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38328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394960" y="1417320"/>
            <a:ext cx="1371600" cy="1371600"/>
          </a:xfrm>
          <a:prstGeom prst="ellipse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0" y="15087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A0E2E"/>
                </a:solidFill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926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Organización
e interpretación
con IA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C4"/>
                </a:solidFill>
              </a:rPr>
              <a:t>Extrae datos de
cada documento
sin intervención manual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83880" y="1280160"/>
            <a:ext cx="3383280" cy="521208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280160"/>
            <a:ext cx="338328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89720" y="1417320"/>
            <a:ext cx="1371600" cy="1371600"/>
          </a:xfrm>
          <a:prstGeom prst="ellipse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89720" y="15087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0A0E2E"/>
                </a:solidFill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926080"/>
            <a:ext cx="3200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</a:rPr>
              <a:t>Generación de
escritos legales
automatizada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21040" y="4663440"/>
            <a:ext cx="3108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96C4"/>
                </a:solidFill>
              </a:rPr>
              <a:t>Reclamaciones previas
generadas en
menos de 10 segundos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1" y="91440"/>
            <a:ext cx="1417320" cy="141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01 / CAPTACIÓN DOCUMENTAL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28016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Nunca más perseguiréis
un documento.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5"/>
                </a:solidFill>
              </a:rPr>
              <a:t>El sistema contacta automáticamente con el cliente, le pide cada documento por WhatsApp, valida que esté completo y correcto, y lo organiza en el expediente.
Sin llamadas. Sin mensajes manuales. Sin recordatorios.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1371600"/>
            <a:ext cx="3017520" cy="3017520"/>
          </a:xfrm>
          <a:prstGeom prst="ellipse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2880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800" b="1" i="0">
                <a:solidFill>
                  <a:srgbClr val="0A0E2E"/>
                </a:solidFill>
              </a:rPr>
              <a:t>80%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ECF5"/>
                </a:solidFill>
              </a:rPr>
              <a:t>documentación completa
en menos de 48h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12080"/>
            <a:ext cx="7498079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5C"/>
                </a:solidFill>
              </a:rPr>
              <a:t>Se recuperan 10-15 horas semanales de trabajo administrativo.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1" y="91440"/>
            <a:ext cx="1417320" cy="141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02 / ORGANIZACIÓN E INTERPRETACIÓN CON IA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28016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El sistema lee los documentos.
Vosotros los usáis.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5"/>
                </a:solidFill>
              </a:rPr>
              <a:t>La IA extrae automáticamente nombre, DNI, matrícula, fecha del accidente, lesiones e importes de cada documento.
Nada de copiar. Nada de transcribir. Nada de errores.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1371600"/>
            <a:ext cx="3017520" cy="3017520"/>
          </a:xfrm>
          <a:prstGeom prst="ellipse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737360"/>
            <a:ext cx="3017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200" b="1" i="0">
                <a:solidFill>
                  <a:srgbClr val="0A0E2E"/>
                </a:solidFill>
              </a:rPr>
              <a:t>−90%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ECF5"/>
                </a:solidFill>
              </a:rPr>
              <a:t>errores humanos en
documentación a aseguradoras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12080"/>
            <a:ext cx="7498079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5C"/>
                </a:solidFill>
              </a:rPr>
              <a:t>De 15-30 minutos extrayendo datos a 0 segundos.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1" y="91440"/>
            <a:ext cx="1417320" cy="1417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2920" y="2743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9A85C"/>
                </a:solidFill>
              </a:rPr>
              <a:t>03 / GENERACIÓN DE ESCRITOS LEGALES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896112"/>
            <a:ext cx="1280160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51560"/>
            <a:ext cx="7589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Vuestra reclamación previa,
generada en segundos.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834640"/>
            <a:ext cx="74066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E8ECF5"/>
                </a:solidFill>
              </a:rPr>
              <a:t>El sistema genera automáticamente todos los escritos legales usando vuestras propias plantillas: reclamaciones previas, requerimientos, minutas.
Revisáis. Firmáis. Enviáis. Solo eso.</a:t>
            </a:r>
          </a:p>
        </p:txBody>
      </p:sp>
      <p:sp>
        <p:nvSpPr>
          <p:cNvPr id="8" name="Oval 7"/>
          <p:cNvSpPr/>
          <p:nvPr/>
        </p:nvSpPr>
        <p:spPr>
          <a:xfrm>
            <a:off x="8503920" y="1371600"/>
            <a:ext cx="3017520" cy="3017520"/>
          </a:xfrm>
          <a:prstGeom prst="ellipse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0" y="1874519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800" b="1" i="0">
                <a:solidFill>
                  <a:srgbClr val="0A0E2E"/>
                </a:solidFill>
              </a:rPr>
              <a:t>&lt;10s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480560"/>
            <a:ext cx="35661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8ECF5"/>
                </a:solidFill>
              </a:rPr>
              <a:t>por escrito generado
vs 30 min de forma manual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212080"/>
            <a:ext cx="7498079" cy="64008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5349240"/>
            <a:ext cx="749807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C9A85C"/>
                </a:solidFill>
              </a:rPr>
              <a:t>Cero errores de transcripción. Mismo estilo jurídico del despacho.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7311" y="91440"/>
            <a:ext cx="1417320" cy="14173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18288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C9A85C"/>
                </a:solidFill>
              </a:rPr>
              <a:t>SESIÓN DE DIAGNÓSTICO GRATUITA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005840"/>
            <a:ext cx="94183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1">
                <a:solidFill>
                  <a:srgbClr val="E8ECF5"/>
                </a:solidFill>
              </a:rPr>
              <a:t>Solo para los presentes hoy. No está en nuestra web.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1645920"/>
            <a:ext cx="9418320" cy="54864"/>
          </a:xfrm>
          <a:prstGeom prst="rect">
            <a:avLst/>
          </a:prstGeom>
          <a:solidFill>
            <a:srgbClr val="2A34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0" y="1828800"/>
            <a:ext cx="9418320" cy="100584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371600" y="1828800"/>
            <a:ext cx="73152" cy="10058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00200" y="190195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Diagnóstico de vuestro despacho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3317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CF5"/>
                </a:solidFill>
              </a:rPr>
              <a:t>Analizamos cuellos de botella y calculamos el coste real del problema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371600" y="3017520"/>
            <a:ext cx="9418320" cy="100584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371600" y="3017520"/>
            <a:ext cx="73152" cy="10058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00200" y="309067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Demo en directo de Docufy Legal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00200" y="3520439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CF5"/>
                </a:solidFill>
              </a:rPr>
              <a:t>Veis el sistema funcionando con un expediente real en tiempo real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206240"/>
            <a:ext cx="9418320" cy="100584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371600" y="4206240"/>
            <a:ext cx="73152" cy="1005840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279392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Plan de automatización personalizado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4709159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E8ECF5"/>
                </a:solidFill>
              </a:rPr>
              <a:t>Os lleváis un roadmap concreto para los próximos 30 días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CF5"/>
                </a:solidFill>
              </a:rPr>
              <a:t>Escaneáis el QR  →  Reserváis vuestra sesión  →  Nosotros hacemos el resto.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5212080"/>
            <a:ext cx="2011680" cy="146304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5212080"/>
            <a:ext cx="20116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C9A85C"/>
                </a:solidFill>
              </a:rPr>
              <a:t>[ QR aquí 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E8ECF5"/>
                </a:solidFill>
              </a:rPr>
              <a:t>Acabáis de escuchar el futuro de la IA en el derecho.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0" y="1005840"/>
            <a:ext cx="6675120" cy="73152"/>
          </a:xfrm>
          <a:prstGeom prst="rect">
            <a:avLst/>
          </a:prstGeom>
          <a:solidFill>
            <a:srgbClr val="C9A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</a:rPr>
              <a:t>Esto no es el futuro.
Es lo que ya están haciendo despachos como el vuestro.</a:t>
            </a:r>
          </a:p>
        </p:txBody>
      </p:sp>
      <p:pic>
        <p:nvPicPr>
          <p:cNvPr id="6" name="Picture 5" descr="Docufy Legal - logo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5676" y="2788920"/>
            <a:ext cx="3657600" cy="36576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50749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9A85C"/>
                </a:solidFill>
              </a:rPr>
              <a:t>La pregunta es cuándo queréis empezar vosotros.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5989320"/>
            <a:ext cx="12188952" cy="868680"/>
          </a:xfrm>
          <a:prstGeom prst="rect">
            <a:avLst/>
          </a:prstGeom>
          <a:solidFill>
            <a:srgbClr val="121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03504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9A85C"/>
                </a:solidFill>
              </a:rPr>
              <a:t>docufylegal.com  ·  info@docufylegal.com  ·  +34 681 801 356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