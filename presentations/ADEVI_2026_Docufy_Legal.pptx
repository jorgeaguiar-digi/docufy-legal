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C9A85C"/>
                </a:solidFill>
              </a:rPr>
              <a:t>EL LUNES POR LA MAÑANA.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i="0">
                <a:solidFill>
                  <a:srgbClr val="FFFFFF"/>
                </a:solidFill>
              </a:rPr>
              <a:t>Son las 9h. Abres el móvil.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468880"/>
            <a:ext cx="10058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E8ECF5"/>
                </a:solidFill>
              </a:rPr>
              <a:t>11 WhatsApps de clientes preguntando cómo va su caso.
Un expediente parado 10 días porque falta el parte amistoso.
Tu administrativa rehaciendo una reclamación por un error en la matrícula.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217920"/>
            <a:ext cx="1097280" cy="64008"/>
          </a:xfrm>
          <a:prstGeom prst="rect">
            <a:avLst/>
          </a:prstGeom>
          <a:solidFill>
            <a:srgbClr val="C9A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172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9A85C"/>
                </a:solidFill>
              </a:rPr>
              <a:t>¿Os suena?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9A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¿TIENES AHORA MISMO ALGÚN EXPEDIENTE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011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C9A85C"/>
                </a:solidFill>
              </a:rPr>
              <a:t>PARADO PORQUE EL CLIENTE NO HA MANDADO UN DOCUMENTO?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1">
                <a:solidFill>
                  <a:srgbClr val="E8ECF5"/>
                </a:solidFill>
              </a:rPr>
              <a:t>Levantad la mano.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9A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¿LE HAS PEDIDO EL DNI A UN CLIENTE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011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C9A85C"/>
                </a:solidFill>
              </a:rPr>
              <a:t>MÁS DE DOS VECES?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1">
                <a:solidFill>
                  <a:srgbClr val="E8ECF5"/>
                </a:solidFill>
              </a:rPr>
              <a:t>Levantad la mano.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9A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¿TE HA LLAMADO HOY UN CLIENTE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011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C9A85C"/>
                </a:solidFill>
              </a:rPr>
              <a:t>PREGUNTANDO EN QUÉ ESTADO ESTÁ SU CASO?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1">
                <a:solidFill>
                  <a:srgbClr val="E8ECF5"/>
                </a:solidFill>
              </a:rPr>
              <a:t>Levantad la mano.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4630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E8ECF5"/>
                </a:solidFill>
              </a:rPr>
              <a:t>El problema no es que no seáis buenos abogados.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2834640"/>
            <a:ext cx="5760720" cy="64008"/>
          </a:xfrm>
          <a:prstGeom prst="rect">
            <a:avLst/>
          </a:prstGeom>
          <a:solidFill>
            <a:srgbClr val="C9A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10896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Es que la mitad de vuestro tiempo
no lo estáis ejerciendo.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9A85C"/>
                </a:solidFill>
              </a:rPr>
              <a:t>¿CÓMO PODRÍA SER TU SEMANA?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51560"/>
            <a:ext cx="5212080" cy="5394960"/>
          </a:xfrm>
          <a:prstGeom prst="rect">
            <a:avLst/>
          </a:prstGeom>
          <a:solidFill>
            <a:srgbClr val="141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E83A3A"/>
                </a:solidFill>
              </a:rPr>
              <a:t>HOY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691640"/>
            <a:ext cx="5212080" cy="45720"/>
          </a:xfrm>
          <a:prstGeom prst="rect">
            <a:avLst/>
          </a:prstGeom>
          <a:solidFill>
            <a:srgbClr val="E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74519"/>
            <a:ext cx="48463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CF5"/>
                </a:solidFill>
              </a:rPr>
              <a:t>✗  Persigues documentos por WhatsApp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79191"/>
            <a:ext cx="48463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CF5"/>
                </a:solidFill>
              </a:rPr>
              <a:t>✗  Copias datos a mano en Word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83863"/>
            <a:ext cx="48463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CF5"/>
                </a:solidFill>
              </a:rPr>
              <a:t>✗  No sabes en qué estado está cada expediente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288536"/>
            <a:ext cx="48463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CF5"/>
                </a:solidFill>
              </a:rPr>
              <a:t>✗  Clientes que llaman constantemente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093208"/>
            <a:ext cx="48463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CF5"/>
                </a:solidFill>
              </a:rPr>
              <a:t>✗  Rechazas casos por falta de capacidad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1051560"/>
            <a:ext cx="5212080" cy="5394960"/>
          </a:xfrm>
          <a:prstGeom prst="rect">
            <a:avLst/>
          </a:prstGeom>
          <a:solidFill>
            <a:srgbClr val="0D2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09728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4CD97A"/>
                </a:solidFill>
              </a:rPr>
              <a:t>EN 3 MESES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1691640"/>
            <a:ext cx="5212080" cy="45720"/>
          </a:xfrm>
          <a:prstGeom prst="rect">
            <a:avLst/>
          </a:prstGeom>
          <a:solidFill>
            <a:srgbClr val="4CD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1874519"/>
            <a:ext cx="48463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CF5"/>
                </a:solidFill>
              </a:rPr>
              <a:t>✓  Documentación recibida automáticamente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2679191"/>
            <a:ext cx="48463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CF5"/>
                </a:solidFill>
              </a:rPr>
              <a:t>✓  Escritos generados en segundos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3483863"/>
            <a:ext cx="48463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CF5"/>
                </a:solidFill>
              </a:rPr>
              <a:t>✓  Panel con estado en tiempo real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4288536"/>
            <a:ext cx="48463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CF5"/>
                </a:solidFill>
              </a:rPr>
              <a:t>✓  El cliente recibe actualizaciones solo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5093208"/>
            <a:ext cx="48463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CF5"/>
                </a:solidFill>
              </a:rPr>
              <a:t>✓  El doble de expedientes, mismo equipo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9A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9A85C"/>
                </a:solidFill>
              </a:rPr>
              <a:t>LO QUE NOS DICEN LOS DESPACHOS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14400"/>
            <a:ext cx="1097280" cy="64008"/>
          </a:xfrm>
          <a:prstGeom prst="rect">
            <a:avLst/>
          </a:prstGeom>
          <a:solidFill>
            <a:srgbClr val="C9A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Llevamos meses trabajando con los primeros despachos.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4231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8ECF5"/>
                </a:solidFill>
              </a:rPr>
              <a:t>Lo que nos dicen es siempre lo mismo: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3383280"/>
            <a:ext cx="11247120" cy="804672"/>
          </a:xfrm>
          <a:prstGeom prst="rect">
            <a:avLst/>
          </a:prstGeom>
          <a:solidFill>
            <a:srgbClr val="121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429000"/>
            <a:ext cx="107899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E8ECF5"/>
                </a:solidFill>
              </a:rPr>
              <a:t>"El problema no es que no sepamos hacer el trabajo."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343400"/>
            <a:ext cx="11247120" cy="804672"/>
          </a:xfrm>
          <a:prstGeom prst="rect">
            <a:avLst/>
          </a:prstGeom>
          <a:solidFill>
            <a:srgbClr val="121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107899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E8ECF5"/>
                </a:solidFill>
              </a:rPr>
              <a:t>"Es que la mitad del tiempo no lo estamos ejerciendo."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303520"/>
            <a:ext cx="11247120" cy="804672"/>
          </a:xfrm>
          <a:prstGeom prst="rect">
            <a:avLst/>
          </a:prstGeom>
          <a:solidFill>
            <a:srgbClr val="121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5349240"/>
            <a:ext cx="107899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E8ECF5"/>
                </a:solidFill>
              </a:rPr>
              <a:t>"Somos abogados gestionando documentos, no casos."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486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C9A85C"/>
                </a:solidFill>
              </a:rPr>
              <a:t>¿CÓMO LO HACEMOS?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463040"/>
            <a:ext cx="1097280" cy="64008"/>
          </a:xfrm>
          <a:prstGeom prst="rect">
            <a:avLst/>
          </a:prstGeom>
          <a:solidFill>
            <a:srgbClr val="C9A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28800"/>
            <a:ext cx="3200400" cy="4389120"/>
          </a:xfrm>
          <a:prstGeom prst="rect">
            <a:avLst/>
          </a:prstGeom>
          <a:solidFill>
            <a:srgbClr val="121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3200400" cy="73152"/>
          </a:xfrm>
          <a:prstGeom prst="rect">
            <a:avLst/>
          </a:prstGeom>
          <a:solidFill>
            <a:srgbClr val="C9A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6596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C9A85C"/>
                </a:solidFill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3017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Captación
documental
automática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1828800"/>
            <a:ext cx="3200400" cy="4389120"/>
          </a:xfrm>
          <a:prstGeom prst="rect">
            <a:avLst/>
          </a:prstGeom>
          <a:solidFill>
            <a:srgbClr val="121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0" y="1828800"/>
            <a:ext cx="3200400" cy="73152"/>
          </a:xfrm>
          <a:prstGeom prst="rect">
            <a:avLst/>
          </a:prstGeom>
          <a:solidFill>
            <a:srgbClr val="C9A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196596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C9A85C"/>
                </a:solidFill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926080"/>
            <a:ext cx="3017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Organización e
interpretación
con 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1040" y="1828800"/>
            <a:ext cx="3200400" cy="4389120"/>
          </a:xfrm>
          <a:prstGeom prst="rect">
            <a:avLst/>
          </a:prstGeom>
          <a:solidFill>
            <a:srgbClr val="121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21040" y="1828800"/>
            <a:ext cx="3200400" cy="73152"/>
          </a:xfrm>
          <a:prstGeom prst="rect">
            <a:avLst/>
          </a:prstGeom>
          <a:solidFill>
            <a:srgbClr val="C9A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19" y="196596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C9A85C"/>
                </a:solidFill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926080"/>
            <a:ext cx="3017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Generación de
escritos legales
automatizada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9A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9A85C"/>
                </a:solidFill>
              </a:rPr>
              <a:t>01 / CAPTACIÓN DOCUMENTAL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68680"/>
            <a:ext cx="1097280" cy="64008"/>
          </a:xfrm>
          <a:prstGeom prst="rect">
            <a:avLst/>
          </a:prstGeom>
          <a:solidFill>
            <a:srgbClr val="C9A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</a:rPr>
              <a:t>Nunca más perseguiréis
un documento.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06040"/>
            <a:ext cx="10058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8ECF5"/>
                </a:solidFill>
              </a:rPr>
              <a:t>El sistema contacta automáticamente con el cliente, le pide cada documento, valida que esté completo y correcto, y organiza todo en el expediente.
Sin llamadas. Sin WhatsApps manuales. Sin recordatorios.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212080"/>
            <a:ext cx="10515600" cy="73152"/>
          </a:xfrm>
          <a:prstGeom prst="rect">
            <a:avLst/>
          </a:prstGeom>
          <a:solidFill>
            <a:srgbClr val="C9A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3492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9A85C"/>
                </a:solidFill>
              </a:rPr>
              <a:t>80% de clientes entregan documentación completa en menos de 48h.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9A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9A85C"/>
                </a:solidFill>
              </a:rPr>
              <a:t>02 / ORGANIZACIÓN E INTERPRETACIÓN CON IA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68680"/>
            <a:ext cx="1097280" cy="64008"/>
          </a:xfrm>
          <a:prstGeom prst="rect">
            <a:avLst/>
          </a:prstGeom>
          <a:solidFill>
            <a:srgbClr val="C9A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</a:rPr>
              <a:t>El sistema lee los documentos.
Vosotros los usáis.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06040"/>
            <a:ext cx="10058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8ECF5"/>
                </a:solidFill>
              </a:rPr>
              <a:t>La IA extrae automáticamente los datos de cada documento: nombre, DNI, matrícula, fecha del accidente, lesiones, importes.
Nada de copiar. Nada de transcribir. Nada de errores.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212080"/>
            <a:ext cx="10515600" cy="73152"/>
          </a:xfrm>
          <a:prstGeom prst="rect">
            <a:avLst/>
          </a:prstGeom>
          <a:solidFill>
            <a:srgbClr val="C9A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3492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9A85C"/>
                </a:solidFill>
              </a:rPr>
              <a:t>Eliminación del 90% de errores humanos en la documentación enviada a aseguradoras.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9A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9A85C"/>
                </a:solidFill>
              </a:rPr>
              <a:t>03 / GENERACIÓN DE ESCRITOS LEGALES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68680"/>
            <a:ext cx="1097280" cy="64008"/>
          </a:xfrm>
          <a:prstGeom prst="rect">
            <a:avLst/>
          </a:prstGeom>
          <a:solidFill>
            <a:srgbClr val="C9A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</a:rPr>
              <a:t>Vuestra reclamación previa,
generada en segundos.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06040"/>
            <a:ext cx="10058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8ECF5"/>
                </a:solidFill>
              </a:rPr>
              <a:t>El sistema genera automáticamente todos los escritos legales usando vuestras propias plantillas. Reclamaciones previas, requerimientos, minutas.
Revisáis. Firmáis. Enviáis. Solo eso.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212080"/>
            <a:ext cx="10515600" cy="73152"/>
          </a:xfrm>
          <a:prstGeom prst="rect">
            <a:avLst/>
          </a:prstGeom>
          <a:solidFill>
            <a:srgbClr val="C9A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3492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9A85C"/>
                </a:solidFill>
              </a:rPr>
              <a:t>De 30 minutos por escrito a menos de 10 segundos.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9A85C"/>
                </a:solidFill>
              </a:rPr>
              <a:t>PARA QUE ESTA DISENADO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05840"/>
            <a:ext cx="1097280" cy="64008"/>
          </a:xfrm>
          <a:prstGeom prst="rect">
            <a:avLst/>
          </a:prstGeom>
          <a:solidFill>
            <a:srgbClr val="C9A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303520" cy="2286000"/>
          </a:xfrm>
          <a:prstGeom prst="rect">
            <a:avLst/>
          </a:prstGeom>
          <a:solidFill>
            <a:srgbClr val="121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5303520" cy="73152"/>
          </a:xfrm>
          <a:prstGeom prst="rect">
            <a:avLst/>
          </a:prstGeom>
          <a:solidFill>
            <a:srgbClr val="C9A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C9A85C"/>
                </a:solidFill>
              </a:rPr>
              <a:t>−80%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4937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 i="0">
                <a:solidFill>
                  <a:srgbClr val="E8ECF5"/>
                </a:solidFill>
              </a:rPr>
              <a:t>tiempo administrativo
por expediente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0" y="1371600"/>
            <a:ext cx="5303520" cy="2286000"/>
          </a:xfrm>
          <a:prstGeom prst="rect">
            <a:avLst/>
          </a:prstGeom>
          <a:solidFill>
            <a:srgbClr val="121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92240" y="1371600"/>
            <a:ext cx="5303520" cy="73152"/>
          </a:xfrm>
          <a:prstGeom prst="rect">
            <a:avLst/>
          </a:prstGeom>
          <a:solidFill>
            <a:srgbClr val="C9A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50876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C9A85C"/>
                </a:solidFill>
              </a:rPr>
              <a:t>×2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560320"/>
            <a:ext cx="4937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 i="0">
                <a:solidFill>
                  <a:srgbClr val="E8ECF5"/>
                </a:solidFill>
              </a:rPr>
              <a:t>capacidad operativa
mismo equipo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931920"/>
            <a:ext cx="5303520" cy="2286000"/>
          </a:xfrm>
          <a:prstGeom prst="rect">
            <a:avLst/>
          </a:prstGeom>
          <a:solidFill>
            <a:srgbClr val="121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3931920"/>
            <a:ext cx="5303520" cy="73152"/>
          </a:xfrm>
          <a:prstGeom prst="rect">
            <a:avLst/>
          </a:prstGeom>
          <a:solidFill>
            <a:srgbClr val="C9A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06908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C9A85C"/>
                </a:solidFill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120640"/>
            <a:ext cx="4937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 i="0">
                <a:solidFill>
                  <a:srgbClr val="E8ECF5"/>
                </a:solidFill>
              </a:rPr>
              <a:t>documentos perdidos
o mal cumplimentados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3931920"/>
            <a:ext cx="5303520" cy="2286000"/>
          </a:xfrm>
          <a:prstGeom prst="rect">
            <a:avLst/>
          </a:prstGeom>
          <a:solidFill>
            <a:srgbClr val="121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92240" y="3931920"/>
            <a:ext cx="5303520" cy="73152"/>
          </a:xfrm>
          <a:prstGeom prst="rect">
            <a:avLst/>
          </a:prstGeom>
          <a:solidFill>
            <a:srgbClr val="C9A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406908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C9A85C"/>
                </a:solidFill>
              </a:rPr>
              <a:t>+35%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5120640"/>
            <a:ext cx="4937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 i="0">
                <a:solidFill>
                  <a:srgbClr val="E8ECF5"/>
                </a:solidFill>
              </a:rPr>
              <a:t>facturación media
por caso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C9A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C9A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9A85C"/>
                </a:solidFill>
              </a:rPr>
              <a:t>BUSCAMOS 10 DESPACHOS FUNDADORES EN ADEVI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E8ECF5"/>
                </a:solidFill>
              </a:rPr>
              <a:t>Los que entren ahora construyen el producto con nosotros.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965960"/>
            <a:ext cx="3566160" cy="3474720"/>
          </a:xfrm>
          <a:prstGeom prst="rect">
            <a:avLst/>
          </a:prstGeom>
          <a:solidFill>
            <a:srgbClr val="121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965960"/>
            <a:ext cx="3566160" cy="91440"/>
          </a:xfrm>
          <a:prstGeom prst="rect">
            <a:avLst/>
          </a:prstGeom>
          <a:solidFill>
            <a:srgbClr val="C9A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103120"/>
            <a:ext cx="320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</a:rPr>
              <a:t>Precio
de socio fundador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4612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E8ECF5"/>
                </a:solidFill>
              </a:rPr>
              <a:t>Condiciones que
desaparecen cuando
cerremos las 10 plazas.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965960"/>
            <a:ext cx="3566160" cy="3474720"/>
          </a:xfrm>
          <a:prstGeom prst="rect">
            <a:avLst/>
          </a:prstGeom>
          <a:solidFill>
            <a:srgbClr val="121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965960"/>
            <a:ext cx="3566160" cy="91440"/>
          </a:xfrm>
          <a:prstGeom prst="rect">
            <a:avLst/>
          </a:prstGeom>
          <a:solidFill>
            <a:srgbClr val="C9A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2103120"/>
            <a:ext cx="320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</a:rPr>
              <a:t>Acceso directo
al equipo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324612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E8ECF5"/>
                </a:solidFill>
              </a:rPr>
              <a:t>Vuestro flujo de trabajo
se convierte en parte
del producto.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83879" y="1965960"/>
            <a:ext cx="3566160" cy="3474720"/>
          </a:xfrm>
          <a:prstGeom prst="rect">
            <a:avLst/>
          </a:prstGeom>
          <a:solidFill>
            <a:srgbClr val="121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83879" y="1965960"/>
            <a:ext cx="3566160" cy="91440"/>
          </a:xfrm>
          <a:prstGeom prst="rect">
            <a:avLst/>
          </a:prstGeom>
          <a:solidFill>
            <a:srgbClr val="C9A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59" y="2103120"/>
            <a:ext cx="320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</a:rPr>
              <a:t>Implementacion
completa incluida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24612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E8ECF5"/>
                </a:solidFill>
              </a:rPr>
              <a:t>Onboarding, formacion
del equipo y soporte
personalizado.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6235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E8ECF5"/>
                </a:solidFill>
              </a:rPr>
              <a:t>Escaneáis el QR · Reserváis vuestra sesión de diagnostico · Nosotros hacemos el resto.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84648" y="6172200"/>
            <a:ext cx="1828800" cy="502920"/>
          </a:xfrm>
          <a:prstGeom prst="rect">
            <a:avLst/>
          </a:prstGeom>
          <a:solidFill>
            <a:srgbClr val="1E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84648" y="617220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9A85C"/>
                </a:solidFill>
              </a:rPr>
              <a:t>[ QR aqui 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E8ECF5"/>
                </a:solidFill>
              </a:rPr>
              <a:t>Acabáis de escuchar el futuro de la IA en el derecho.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1737360"/>
            <a:ext cx="5760720" cy="73152"/>
          </a:xfrm>
          <a:prstGeom prst="rect">
            <a:avLst/>
          </a:prstGeom>
          <a:solidFill>
            <a:srgbClr val="C9A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Esto no es el futuro.
Es lo que ya esta pasando en despachos como el vuestro.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520440"/>
            <a:ext cx="10698480" cy="1371600"/>
          </a:xfrm>
          <a:prstGeom prst="rect">
            <a:avLst/>
          </a:prstGeom>
          <a:solidFill>
            <a:srgbClr val="121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1188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 i="1">
                <a:solidFill>
                  <a:srgbClr val="E8ECF5"/>
                </a:solidFill>
              </a:rPr>
              <a:t>Los primeros despachos que automatizaron la gestion de trafico
no esperaron a que fuera perfecto.
Entraron cuando todavia se estaba construyendo. Y eso les dio ventaja.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120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9A85C"/>
                </a:solidFill>
              </a:rPr>
              <a:t>La pregunta es cuando quereis empezar vosotros.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26480"/>
            <a:ext cx="12188952" cy="731520"/>
          </a:xfrm>
          <a:prstGeom prst="rect">
            <a:avLst/>
          </a:prstGeom>
          <a:solidFill>
            <a:srgbClr val="121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C9A85C"/>
                </a:solidFill>
              </a:rPr>
              <a:t>docufylegal.com  ·  info@docufylegal.com  ·  +34 681 801 356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